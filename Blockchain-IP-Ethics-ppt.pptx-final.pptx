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1" r:id="rId3"/>
    <p:sldId id="258" r:id="rId5"/>
    <p:sldId id="260" r:id="rId6"/>
    <p:sldId id="261" r:id="rId7"/>
    <p:sldId id="282" r:id="rId8"/>
    <p:sldId id="283" r:id="rId9"/>
    <p:sldId id="273" r:id="rId10"/>
    <p:sldId id="279" r:id="rId11"/>
    <p:sldId id="266" r:id="rId12"/>
    <p:sldId id="288" r:id="rId13"/>
    <p:sldId id="263" r:id="rId14"/>
    <p:sldId id="290" r:id="rId15"/>
    <p:sldId id="272" r:id="rId16"/>
    <p:sldId id="28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878" autoAdjust="0"/>
    <p:restoredTop sz="78870" autoAdjust="0"/>
  </p:normalViewPr>
  <p:slideViewPr>
    <p:cSldViewPr snapToGrid="0" showGuides="1">
      <p:cViewPr>
        <p:scale>
          <a:sx n="75" d="100"/>
          <a:sy n="75" d="100"/>
        </p:scale>
        <p:origin x="245" y="307"/>
      </p:cViewPr>
      <p:guideLst>
        <p:guide orient="horz" pos="2185"/>
        <p:guide pos="3840"/>
      </p:guideLst>
    </p:cSldViewPr>
  </p:slideViewPr>
  <p:notesTextViewPr>
    <p:cViewPr>
      <p:scale>
        <a:sx n="1" d="1"/>
        <a:sy n="1" d="1"/>
      </p:scale>
      <p:origin x="0" y="0"/>
    </p:cViewPr>
  </p:notesTextViewPr>
  <p:sorterViewPr>
    <p:cViewPr>
      <p:scale>
        <a:sx n="100" d="100"/>
        <a:sy n="100" d="100"/>
      </p:scale>
      <p:origin x="0" y="-242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DCBC452-19AA-43F7-B80A-3DB278E22F43}" type="doc">
      <dgm:prSet loTypeId="urn:microsoft.com/office/officeart/2005/8/layout/cycle6" loCatId="cycle" qsTypeId="urn:microsoft.com/office/officeart/2005/8/quickstyle/simple1" qsCatId="simple" csTypeId="urn:microsoft.com/office/officeart/2005/8/colors/colorful1" csCatId="colorful" phldr="1"/>
      <dgm:spPr/>
      <dgm:t>
        <a:bodyPr/>
        <a:lstStyle/>
        <a:p>
          <a:endParaRPr lang="en-IN"/>
        </a:p>
      </dgm:t>
    </dgm:pt>
    <dgm:pt modelId="{A34D167C-3421-422D-AA4D-23058D68E94C}" type="pres">
      <dgm:prSet presAssocID="{4DCBC452-19AA-43F7-B80A-3DB278E22F43}" presName="cycle" presStyleCnt="0">
        <dgm:presLayoutVars>
          <dgm:dir/>
          <dgm:resizeHandles val="exact"/>
        </dgm:presLayoutVars>
      </dgm:prSet>
      <dgm:spPr/>
    </dgm:pt>
  </dgm:ptLst>
  <dgm:cxnLst>
    <dgm:cxn modelId="{7420282B-3A2E-4E46-BBA8-554B239DC586}" type="presOf" srcId="{4DCBC452-19AA-43F7-B80A-3DB278E22F43}" destId="{A34D167C-3421-422D-AA4D-23058D68E94C}" srcOrd="0"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1278F-C30C-4001-B8FB-92A0D0A920FF}"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1B2D3-E726-459D-9D78-06FAF96A9EE0}"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ythis</a:t>
            </a:r>
            <a:r>
              <a:rPr lang="en-US" dirty="0"/>
              <a:t> the </a:t>
            </a:r>
            <a:endParaRPr lang="en-IN" dirty="0"/>
          </a:p>
        </p:txBody>
      </p:sp>
      <p:sp>
        <p:nvSpPr>
          <p:cNvPr id="4" name="Slide Number Placeholder 3"/>
          <p:cNvSpPr>
            <a:spLocks noGrp="1"/>
          </p:cNvSpPr>
          <p:nvPr>
            <p:ph type="sldNum" sz="quarter" idx="5"/>
          </p:nvPr>
        </p:nvSpPr>
        <p:spPr/>
        <p:txBody>
          <a:bodyPr/>
          <a:lstStyle/>
          <a:p>
            <a:fld id="{8401B2D3-E726-459D-9D78-06FAF96A9EE0}" type="slidenum">
              <a:rPr lang="en-IN" smtClean="0"/>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CB238C4-D33A-4BF2-BF14-8CD9722D3E73}"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CB238C4-D33A-4BF2-BF14-8CD9722D3E73}"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CB238C4-D33A-4BF2-BF14-8CD9722D3E73}"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6CB238C4-D33A-4BF2-BF14-8CD9722D3E73}"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6CB238C4-D33A-4BF2-BF14-8CD9722D3E73}" type="datetimeFigureOut">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CB238C4-D33A-4BF2-BF14-8CD9722D3E73}" type="datetimeFigureOut">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B238C4-D33A-4BF2-BF14-8CD9722D3E73}" type="datetimeFigureOut">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B238C4-D33A-4BF2-BF14-8CD9722D3E73}"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B238C4-D33A-4BF2-BF14-8CD9722D3E73}"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CB238C4-D33A-4BF2-BF14-8CD9722D3E73}"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CB238C4-D33A-4BF2-BF14-8CD9722D3E73}"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2FADB65-EBDE-4705-AFD4-D32433EB305E}"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B238C4-D33A-4BF2-BF14-8CD9722D3E73}" type="datetimeFigureOut">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FADB65-EBDE-4705-AFD4-D32433EB305E}"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image" Target="../media/image8.png"/><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image" Target="../media/image3.jpeg"/><Relationship Id="rId11" Type="http://schemas.openxmlformats.org/officeDocument/2006/relationships/notesSlide" Target="../notesSlides/notesSlide6.xml"/><Relationship Id="rId10"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3.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0" y="2324761"/>
            <a:ext cx="9144000" cy="1185201"/>
          </a:xfrm>
        </p:spPr>
        <p:txBody>
          <a:bodyPr>
            <a:normAutofit/>
          </a:bodyPr>
          <a:lstStyle/>
          <a:p>
            <a:r>
              <a:rPr sz="3400">
                <a:solidFill>
                  <a:srgbClr val="FF0000"/>
                </a:solidFill>
                <a:sym typeface="+mn-ea"/>
              </a:rPr>
              <a:t>Blockchain IP Ethics: Smart Contract Failures in NFT Royalties</a:t>
            </a:r>
            <a:endParaRPr lang="en-IN" sz="3400" b="1" dirty="0">
              <a:solidFill>
                <a:srgbClr val="FF0000"/>
              </a:solidFill>
              <a:latin typeface="Times New Roman" panose="02020603050405020304" pitchFamily="18" charset="0"/>
              <a:cs typeface="Times New Roman" panose="02020603050405020304" pitchFamily="18" charset="0"/>
              <a:sym typeface="+mn-ea"/>
            </a:endParaRPr>
          </a:p>
        </p:txBody>
      </p:sp>
      <p:sp>
        <p:nvSpPr>
          <p:cNvPr id="10" name="TextBox 9"/>
          <p:cNvSpPr txBox="1"/>
          <p:nvPr/>
        </p:nvSpPr>
        <p:spPr>
          <a:xfrm>
            <a:off x="7300299" y="4708879"/>
            <a:ext cx="4891701" cy="1614805"/>
          </a:xfrm>
          <a:prstGeom prst="rect">
            <a:avLst/>
          </a:prstGeom>
          <a:noFill/>
        </p:spPr>
        <p:txBody>
          <a:bodyPr wrap="square" rtlCol="0">
            <a:spAutoFit/>
          </a:bodyPr>
          <a:lstStyle/>
          <a:p>
            <a:pPr>
              <a:lnSpc>
                <a:spcPct val="150000"/>
              </a:lnSpc>
            </a:pPr>
            <a:endParaRPr lang="en-US" sz="22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200" b="1" dirty="0">
                <a:solidFill>
                  <a:srgbClr val="FF0000"/>
                </a:solidFill>
                <a:latin typeface="Times New Roman" panose="02020603050405020304" pitchFamily="18" charset="0"/>
                <a:cs typeface="Times New Roman" panose="02020603050405020304" pitchFamily="18" charset="0"/>
              </a:rPr>
              <a:t>Presented By:</a:t>
            </a:r>
            <a:endParaRPr lang="en-US" sz="22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IN" altLang="en-US" sz="2200" b="1" dirty="0">
                <a:latin typeface="Times New Roman" panose="02020603050405020304" pitchFamily="18" charset="0"/>
                <a:cs typeface="Times New Roman" panose="02020603050405020304" pitchFamily="18" charset="0"/>
              </a:rPr>
              <a:t>P.Varshini</a:t>
            </a:r>
            <a:r>
              <a:rPr lang="en-US" sz="2200" b="1" dirty="0">
                <a:latin typeface="Times New Roman" panose="02020603050405020304" pitchFamily="18" charset="0"/>
                <a:cs typeface="Times New Roman" panose="02020603050405020304" pitchFamily="18" charset="0"/>
              </a:rPr>
              <a:t>(19247</a:t>
            </a:r>
            <a:r>
              <a:rPr lang="en-IN" altLang="en-US" sz="2200" b="1" dirty="0">
                <a:latin typeface="Times New Roman" panose="02020603050405020304" pitchFamily="18" charset="0"/>
                <a:cs typeface="Times New Roman" panose="02020603050405020304" pitchFamily="18" charset="0"/>
              </a:rPr>
              <a:t>2372</a:t>
            </a:r>
            <a:r>
              <a:rPr lang="en-US" sz="2200" b="1"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p:txBody>
      </p:sp>
      <p:pic>
        <p:nvPicPr>
          <p:cNvPr id="11" name="Picture 10" descr="SSE-Computer Science and Engineeri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81364" y="369392"/>
            <a:ext cx="9809522" cy="11789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03177" y="3728034"/>
            <a:ext cx="10262586" cy="830997"/>
          </a:xfrm>
          <a:prstGeom prst="rect">
            <a:avLst/>
          </a:prstGeom>
          <a:noFill/>
        </p:spPr>
        <p:txBody>
          <a:bodyPr wrap="square">
            <a:spAutoFit/>
          </a:bodyPr>
          <a:lstStyle/>
          <a:p>
            <a:br>
              <a:rPr lang="en-US" sz="2000" b="1" dirty="0">
                <a:solidFill>
                  <a:srgbClr val="00B0F0"/>
                </a:solidFill>
                <a:latin typeface="Times New Roman" panose="02020603050405020304" pitchFamily="18" charset="0"/>
                <a:cs typeface="Times New Roman" panose="02020603050405020304" pitchFamily="18" charset="0"/>
              </a:rPr>
            </a:br>
            <a:r>
              <a:rPr lang="en-US" sz="2800" b="1" dirty="0">
                <a:solidFill>
                  <a:srgbClr val="00B0F0"/>
                </a:solidFill>
                <a:latin typeface="Times New Roman" panose="02020603050405020304" pitchFamily="18" charset="0"/>
                <a:cs typeface="Times New Roman" panose="02020603050405020304" pitchFamily="18" charset="0"/>
              </a:rPr>
              <a:t>Course Name:  UBA2836-Professional Ethics and Legal practices </a:t>
            </a:r>
            <a:endParaRPr lang="en-IN" sz="2800" dirty="0">
              <a:solidFill>
                <a:srgbClr val="00B0F0"/>
              </a:solidFill>
            </a:endParaRPr>
          </a:p>
        </p:txBody>
      </p:sp>
      <p:sp>
        <p:nvSpPr>
          <p:cNvPr id="7" name="TextBox 6"/>
          <p:cNvSpPr txBox="1"/>
          <p:nvPr/>
        </p:nvSpPr>
        <p:spPr>
          <a:xfrm>
            <a:off x="1003177" y="5335480"/>
            <a:ext cx="3107184" cy="769441"/>
          </a:xfrm>
          <a:prstGeom prst="rect">
            <a:avLst/>
          </a:prstGeom>
          <a:noFill/>
        </p:spPr>
        <p:txBody>
          <a:bodyPr wrap="squar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Guided by :</a:t>
            </a:r>
            <a:endParaRPr lang="en-US" sz="2200" b="1" dirty="0">
              <a:solidFill>
                <a:srgbClr val="FF0000"/>
              </a:solidFill>
              <a:latin typeface="Times New Roman" panose="02020603050405020304" pitchFamily="18" charset="0"/>
              <a:cs typeface="Times New Roman" panose="02020603050405020304" pitchFamily="18" charset="0"/>
            </a:endParaRPr>
          </a:p>
          <a:p>
            <a:r>
              <a:rPr lang="en-US" sz="2200" b="1" dirty="0" err="1">
                <a:latin typeface="Times New Roman" panose="02020603050405020304" pitchFamily="18" charset="0"/>
                <a:cs typeface="Times New Roman" panose="02020603050405020304" pitchFamily="18" charset="0"/>
              </a:rPr>
              <a:t>Dr.P.Thamizhvalavan</a:t>
            </a:r>
            <a:endParaRPr lang="en-IN" sz="2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90157" y="585955"/>
            <a:ext cx="6096000" cy="707886"/>
          </a:xfrm>
          <a:prstGeom prst="rect">
            <a:avLst/>
          </a:prstGeom>
          <a:noFill/>
        </p:spPr>
        <p:txBody>
          <a:bodyPr wrap="square">
            <a:spAutoFit/>
          </a:bodyPr>
          <a:lstStyle/>
          <a:p>
            <a:pPr algn="ctr">
              <a:buNone/>
            </a:pPr>
            <a:r>
              <a:rPr lang="en-US" sz="4000" b="1" dirty="0">
                <a:latin typeface="Times New Roman" panose="02020603050405020304" pitchFamily="18" charset="0"/>
                <a:cs typeface="Times New Roman" panose="02020603050405020304" pitchFamily="18" charset="0"/>
              </a:rPr>
              <a:t>Introduction</a:t>
            </a:r>
            <a:endParaRPr lang="en-US" sz="4000" b="1" dirty="0">
              <a:latin typeface="Times New Roman" panose="02020603050405020304" pitchFamily="18" charset="0"/>
              <a:cs typeface="Times New Roman" panose="02020603050405020304" pitchFamily="18" charset="0"/>
            </a:endParaRPr>
          </a:p>
        </p:txBody>
      </p:sp>
      <p:pic>
        <p:nvPicPr>
          <p:cNvPr id="6" name="object 4"/>
          <p:cNvPicPr/>
          <p:nvPr/>
        </p:nvPicPr>
        <p:blipFill>
          <a:blip r:embed="rId1" cstate="print"/>
          <a:stretch>
            <a:fillRect/>
          </a:stretch>
        </p:blipFill>
        <p:spPr>
          <a:xfrm>
            <a:off x="163286" y="115281"/>
            <a:ext cx="1088571" cy="1178560"/>
          </a:xfrm>
          <a:prstGeom prst="rect">
            <a:avLst/>
          </a:prstGeom>
        </p:spPr>
      </p:pic>
      <p:pic>
        <p:nvPicPr>
          <p:cNvPr id="7" name="object 5"/>
          <p:cNvPicPr/>
          <p:nvPr/>
        </p:nvPicPr>
        <p:blipFill>
          <a:blip r:embed="rId2" cstate="print"/>
          <a:stretch>
            <a:fillRect/>
          </a:stretch>
        </p:blipFill>
        <p:spPr>
          <a:xfrm>
            <a:off x="10624458" y="115281"/>
            <a:ext cx="1404256" cy="1178560"/>
          </a:xfrm>
          <a:prstGeom prst="rect">
            <a:avLst/>
          </a:prstGeom>
        </p:spPr>
      </p:pic>
      <p:sp>
        <p:nvSpPr>
          <p:cNvPr id="2" name="Rectangle 3"/>
          <p:cNvSpPr>
            <a:spLocks noChangeArrowheads="1"/>
          </p:cNvSpPr>
          <p:nvPr/>
        </p:nvSpPr>
        <p:spPr bwMode="auto">
          <a:xfrm>
            <a:off x="349250" y="3806825"/>
            <a:ext cx="8353425" cy="3051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85750" lvl="0" indent="-285750" algn="just" eaLnBrk="0" fontAlgn="base" hangingPunct="0">
              <a:lnSpc>
                <a:spcPct val="150000"/>
              </a:lnSpc>
              <a:spcBef>
                <a:spcPct val="0"/>
              </a:spcBef>
              <a:spcAft>
                <a:spcPct val="0"/>
              </a:spcAft>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This project focuses on how blockchain technology, NFTs, and smart contracts work together, and the ethical and intellectual property issues that arise when smart contracts fail to enforce NFT royalty payments.</a:t>
            </a: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Blockchain:</a:t>
            </a: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Blockchain is a decentralized digital ledger that securely records transactions. It is transparent, secure, and difficult to alter.</a:t>
            </a: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NFT (Non-Fungible Token):</a:t>
            </a: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An NFT is a unique digital asset that represents ownership of items such as digital art, music, videos, or collectibles.</a:t>
            </a: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Smart Contract:</a:t>
            </a: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A smart contract is a self-executing program on the blockchain. It automatically carries out actions, such as transferring ownership and paying royalties, when predefined conditions are met.</a:t>
            </a: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lnSpc>
                <a:spcPct val="150000"/>
              </a:lnSpc>
              <a:spcBef>
                <a:spcPct val="0"/>
              </a:spcBef>
              <a:spcAft>
                <a:spcPct val="0"/>
              </a:spcAft>
              <a:buFont typeface="Wingdings" panose="05000000000000000000" charset="0"/>
              <a:buChar char="Ø"/>
            </a:pPr>
            <a:endParaRPr lang="en-US" alt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flipH="1">
            <a:off x="8554085" y="5625465"/>
            <a:ext cx="3790315" cy="368300"/>
          </a:xfrm>
          <a:prstGeom prst="rect">
            <a:avLst/>
          </a:prstGeom>
          <a:noFill/>
        </p:spPr>
        <p:txBody>
          <a:bodyPr wrap="square" rtlCol="0">
            <a:spAutoFit/>
          </a:bodyPr>
          <a:lstStyle/>
          <a:p>
            <a:pPr algn="ctr"/>
            <a:r>
              <a:rPr lang="en-IN" b="1">
                <a:latin typeface="Times New Roman" panose="02020603050405020304" pitchFamily="18" charset="0"/>
                <a:cs typeface="Times New Roman" panose="02020603050405020304" pitchFamily="18" charset="0"/>
              </a:rPr>
              <a:t>Fig </a:t>
            </a:r>
            <a:r>
              <a:rPr lang="en-IN" b="1" dirty="0">
                <a:latin typeface="Times New Roman" panose="02020603050405020304" pitchFamily="18" charset="0"/>
                <a:cs typeface="Times New Roman" panose="02020603050405020304" pitchFamily="18" charset="0"/>
              </a:rPr>
              <a:t>1: Non-Fungible Tokens</a:t>
            </a:r>
            <a:endParaRPr lang="en-IN" dirty="0">
              <a:latin typeface="Times New Roman" panose="02020603050405020304" pitchFamily="18" charset="0"/>
              <a:cs typeface="Times New Roman" panose="02020603050405020304" pitchFamily="18" charset="0"/>
            </a:endParaRPr>
          </a:p>
        </p:txBody>
      </p:sp>
      <p:pic>
        <p:nvPicPr>
          <p:cNvPr id="9" name="Picture 8" descr="WhatsApp Image 2026-06-22 at 2.20.26 PM"/>
          <p:cNvPicPr>
            <a:picLocks noChangeAspect="1"/>
          </p:cNvPicPr>
          <p:nvPr/>
        </p:nvPicPr>
        <p:blipFill>
          <a:blip r:embed="rId3"/>
          <a:stretch>
            <a:fillRect/>
          </a:stretch>
        </p:blipFill>
        <p:spPr>
          <a:xfrm>
            <a:off x="8985885" y="2457450"/>
            <a:ext cx="3138170" cy="30664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5"/>
          <p:cNvPicPr/>
          <p:nvPr/>
        </p:nvPicPr>
        <p:blipFill>
          <a:blip r:embed="rId1" cstate="print"/>
          <a:stretch>
            <a:fillRect/>
          </a:stretch>
        </p:blipFill>
        <p:spPr>
          <a:xfrm>
            <a:off x="10624458" y="115281"/>
            <a:ext cx="1404256" cy="1178560"/>
          </a:xfrm>
          <a:prstGeom prst="rect">
            <a:avLst/>
          </a:prstGeom>
        </p:spPr>
      </p:pic>
      <p:pic>
        <p:nvPicPr>
          <p:cNvPr id="3" name="object 4"/>
          <p:cNvPicPr/>
          <p:nvPr/>
        </p:nvPicPr>
        <p:blipFill>
          <a:blip r:embed="rId2" cstate="print"/>
          <a:stretch>
            <a:fillRect/>
          </a:stretch>
        </p:blipFill>
        <p:spPr>
          <a:xfrm>
            <a:off x="163286" y="115281"/>
            <a:ext cx="1088571" cy="1178560"/>
          </a:xfrm>
          <a:prstGeom prst="rect">
            <a:avLst/>
          </a:prstGeom>
        </p:spPr>
      </p:pic>
      <p:sp>
        <p:nvSpPr>
          <p:cNvPr id="7" name="TextBox 6"/>
          <p:cNvSpPr txBox="1"/>
          <p:nvPr/>
        </p:nvSpPr>
        <p:spPr>
          <a:xfrm>
            <a:off x="1676400" y="444827"/>
            <a:ext cx="8625840"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Background </a:t>
            </a:r>
            <a:endParaRPr lang="en-IN" sz="36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39115" y="1224280"/>
            <a:ext cx="7805420" cy="5633720"/>
          </a:xfrm>
          <a:prstGeom prst="rect">
            <a:avLst/>
          </a:prstGeom>
          <a:noFill/>
        </p:spPr>
        <p:txBody>
          <a:bodyPr wrap="square">
            <a:noAutofit/>
          </a:bodyPr>
          <a:lstStyle/>
          <a:p>
            <a:pPr marL="285750" indent="-285750" algn="just">
              <a:lnSpc>
                <a:spcPct val="2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Blockchain is a secure and decentralized digital ledger.</a:t>
            </a:r>
            <a:endParaRPr lang="en-US" altLang="en-US" dirty="0">
              <a:latin typeface="Times New Roman" panose="02020603050405020304" pitchFamily="18" charset="0"/>
              <a:cs typeface="Times New Roman" panose="02020603050405020304" pitchFamily="18" charset="0"/>
            </a:endParaRPr>
          </a:p>
          <a:p>
            <a:pPr marL="285750" indent="-285750" algn="just">
              <a:lnSpc>
                <a:spcPct val="2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NFTs (Non-Fungible Tokens) represent unique digital assets such as art, music, videos, and collectibles.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2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Smart contracts automate NFT transactions and royalty payments.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2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NFT royalties help creators earn income from future resales of their digital assets.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2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Some NFT marketplaces do not fully enforce royalty payments.</a:t>
            </a:r>
            <a:endParaRPr lang="en-US" altLang="en-US" dirty="0">
              <a:latin typeface="Times New Roman" panose="02020603050405020304" pitchFamily="18" charset="0"/>
              <a:cs typeface="Times New Roman" panose="02020603050405020304" pitchFamily="18" charset="0"/>
            </a:endParaRPr>
          </a:p>
          <a:p>
            <a:pPr marL="285750" indent="-285750" algn="just">
              <a:lnSpc>
                <a:spcPct val="2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Smart contract bugs or vulnerabilities can cause royalty payment failures.</a:t>
            </a:r>
            <a:endParaRPr lang="en-US" altLang="en-US"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648700" y="5531758"/>
            <a:ext cx="3091094" cy="368300"/>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1: Smart Contract</a:t>
            </a:r>
            <a:endParaRPr lang="en-IN"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8408670" y="2735580"/>
            <a:ext cx="3711575" cy="2670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5"/>
          <p:cNvPicPr/>
          <p:nvPr/>
        </p:nvPicPr>
        <p:blipFill>
          <a:blip r:embed="rId1" cstate="print"/>
          <a:stretch>
            <a:fillRect/>
          </a:stretch>
        </p:blipFill>
        <p:spPr>
          <a:xfrm>
            <a:off x="10624458" y="115281"/>
            <a:ext cx="1404256" cy="1178560"/>
          </a:xfrm>
          <a:prstGeom prst="rect">
            <a:avLst/>
          </a:prstGeom>
        </p:spPr>
      </p:pic>
      <p:pic>
        <p:nvPicPr>
          <p:cNvPr id="3" name="object 4"/>
          <p:cNvPicPr/>
          <p:nvPr/>
        </p:nvPicPr>
        <p:blipFill>
          <a:blip r:embed="rId2" cstate="print"/>
          <a:stretch>
            <a:fillRect/>
          </a:stretch>
        </p:blipFill>
        <p:spPr>
          <a:xfrm>
            <a:off x="163286" y="115281"/>
            <a:ext cx="1088571" cy="1178560"/>
          </a:xfrm>
          <a:prstGeom prst="rect">
            <a:avLst/>
          </a:prstGeom>
        </p:spPr>
      </p:pic>
      <p:sp>
        <p:nvSpPr>
          <p:cNvPr id="5" name="TextBox 4"/>
          <p:cNvSpPr txBox="1"/>
          <p:nvPr/>
        </p:nvSpPr>
        <p:spPr>
          <a:xfrm>
            <a:off x="1785258" y="373420"/>
            <a:ext cx="84582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Literature Review / Existing Systems</a:t>
            </a:r>
            <a:endParaRPr lang="en-IN" sz="4000" b="1"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5024839" y="2073599"/>
          <a:ext cx="2142322" cy="4074434"/>
        </p:xfrm>
        <a:graphic>
          <a:graphicData uri="http://schemas.openxmlformats.org/drawingml/2006/table">
            <a:tbl>
              <a:tblPr/>
              <a:tblGrid>
                <a:gridCol w="104516"/>
                <a:gridCol w="2037806"/>
              </a:tblGrid>
              <a:tr h="1107613">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r>
              <a:tr h="988940">
                <a:tc>
                  <a:txBody>
                    <a:bodyPr/>
                    <a:lstStyle/>
                    <a:p>
                      <a:pPr>
                        <a:buNone/>
                      </a:pPr>
                      <a:endParaRPr lang="en-US"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r>
              <a:tr h="1107613">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r>
              <a:tr h="870268">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9558" marR="39558" marT="19779" marB="19779" anchor="ctr">
                    <a:lnL>
                      <a:noFill/>
                    </a:lnL>
                    <a:lnR>
                      <a:noFill/>
                    </a:lnR>
                    <a:lnT>
                      <a:noFill/>
                    </a:lnT>
                    <a:lnB>
                      <a:noFill/>
                    </a:lnB>
                    <a:noFill/>
                  </a:tcPr>
                </a:tc>
              </a:tr>
            </a:tbl>
          </a:graphicData>
        </a:graphic>
      </p:graphicFrame>
      <p:sp>
        <p:nvSpPr>
          <p:cNvPr id="4" name="Text Box 3"/>
          <p:cNvSpPr txBox="1"/>
          <p:nvPr/>
        </p:nvSpPr>
        <p:spPr>
          <a:xfrm>
            <a:off x="1632585" y="1659890"/>
            <a:ext cx="8374380" cy="3943985"/>
          </a:xfrm>
          <a:prstGeom prst="rect">
            <a:avLst/>
          </a:prstGeom>
        </p:spPr>
        <p:txBody>
          <a:bodyPr wrap="square">
            <a:noAutofit/>
          </a:bodyPr>
          <a:p>
            <a:pPr marL="285750" indent="-285750">
              <a:spcBef>
                <a:spcPct val="0"/>
              </a:spcBef>
              <a:spcAft>
                <a:spcPct val="0"/>
              </a:spcAft>
              <a:buFont typeface="Wingdings" panose="05000000000000000000" charset="0"/>
              <a:buChar char="Ø"/>
            </a:pPr>
            <a:r>
              <a:rPr lang="en-US" altLang="en-US" b="0" i="0">
                <a:solidFill>
                  <a:srgbClr val="0D0D0D"/>
                </a:solidFill>
                <a:latin typeface="Times New Roman" panose="02020603050405020304" pitchFamily="18" charset="0"/>
                <a:ea typeface="-apple-system-body"/>
                <a:cs typeface="Times New Roman" panose="02020603050405020304" pitchFamily="18" charset="0"/>
              </a:rPr>
              <a:t>Previous studies show that blockchain provides secure, transparent, and decentralized record-keeping.</a:t>
            </a:r>
            <a:endParaRPr lang="en-US" altLang="en-US"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spcBef>
                <a:spcPct val="0"/>
              </a:spcBef>
              <a:spcAft>
                <a:spcPct val="0"/>
              </a:spcAft>
              <a:buFont typeface="Wingdings" panose="05000000000000000000" charset="0"/>
              <a:buChar char="Ø"/>
            </a:pPr>
            <a:r>
              <a:rPr lang="en-US" altLang="en-US" b="0" i="0">
                <a:solidFill>
                  <a:srgbClr val="0D0D0D"/>
                </a:solidFill>
                <a:latin typeface="Times New Roman" panose="02020603050405020304" pitchFamily="18" charset="0"/>
                <a:ea typeface="-apple-system-body"/>
                <a:cs typeface="Times New Roman" panose="02020603050405020304" pitchFamily="18" charset="0"/>
              </a:rPr>
              <a:t>Researchers found that NFTs enable creators to prove ownership of unique digital assets.</a:t>
            </a:r>
            <a:endParaRPr lang="en-US" altLang="en-US"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spcBef>
                <a:spcPct val="0"/>
              </a:spcBef>
              <a:spcAft>
                <a:spcPct val="0"/>
              </a:spcAft>
              <a:buFont typeface="Wingdings" panose="05000000000000000000" charset="0"/>
              <a:buChar char="Ø"/>
            </a:pPr>
            <a:r>
              <a:rPr lang="en-US" altLang="en-US" b="0" i="0">
                <a:solidFill>
                  <a:srgbClr val="0D0D0D"/>
                </a:solidFill>
                <a:latin typeface="Times New Roman" panose="02020603050405020304" pitchFamily="18" charset="0"/>
                <a:ea typeface="-apple-system-body"/>
                <a:cs typeface="Times New Roman" panose="02020603050405020304" pitchFamily="18" charset="0"/>
              </a:rPr>
              <a:t>Studies explain that smart contracts automate NFT sales and royalty payments without intermediaries.</a:t>
            </a:r>
            <a:endParaRPr lang="en-US" altLang="en-US"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spcBef>
                <a:spcPct val="0"/>
              </a:spcBef>
              <a:spcAft>
                <a:spcPct val="0"/>
              </a:spcAft>
              <a:buFont typeface="Wingdings" panose="05000000000000000000" charset="0"/>
              <a:buChar char="Ø"/>
            </a:pPr>
            <a:r>
              <a:rPr lang="en-US" altLang="en-US" b="0" i="0">
                <a:solidFill>
                  <a:srgbClr val="0D0D0D"/>
                </a:solidFill>
                <a:latin typeface="Times New Roman" panose="02020603050405020304" pitchFamily="18" charset="0"/>
                <a:ea typeface="-apple-system-body"/>
                <a:cs typeface="Times New Roman" panose="02020603050405020304" pitchFamily="18" charset="0"/>
              </a:rPr>
              <a:t>Several researchers reported that smart contract bugs and coding errors can lead to payment failures and security risks.</a:t>
            </a:r>
            <a:endParaRPr lang="en-US" altLang="en-US"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spcBef>
                <a:spcPct val="0"/>
              </a:spcBef>
              <a:spcAft>
                <a:spcPct val="0"/>
              </a:spcAft>
              <a:buFont typeface="Wingdings" panose="05000000000000000000" charset="0"/>
              <a:buChar char="Ø"/>
            </a:pPr>
            <a:r>
              <a:rPr lang="en-US" altLang="en-US" b="0" i="0">
                <a:solidFill>
                  <a:srgbClr val="0D0D0D"/>
                </a:solidFill>
                <a:latin typeface="Times New Roman" panose="02020603050405020304" pitchFamily="18" charset="0"/>
                <a:ea typeface="-apple-system-body"/>
                <a:cs typeface="Times New Roman" panose="02020603050405020304" pitchFamily="18" charset="0"/>
              </a:rPr>
              <a:t>Research shows that some NFT marketplaces bypass or do not enforce creator royalties, reducing creators' income.</a:t>
            </a:r>
            <a:endParaRPr lang="en-US" altLang="en-US"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spcBef>
                <a:spcPct val="0"/>
              </a:spcBef>
              <a:spcAft>
                <a:spcPct val="0"/>
              </a:spcAft>
              <a:buFont typeface="Wingdings" panose="05000000000000000000" charset="0"/>
              <a:buChar char="Ø"/>
            </a:pPr>
            <a:r>
              <a:rPr lang="en-US" altLang="en-US" b="0" i="0">
                <a:solidFill>
                  <a:srgbClr val="0D0D0D"/>
                </a:solidFill>
                <a:latin typeface="Times New Roman" panose="02020603050405020304" pitchFamily="18" charset="0"/>
                <a:ea typeface="-apple-system-body"/>
                <a:cs typeface="Times New Roman" panose="02020603050405020304" pitchFamily="18" charset="0"/>
              </a:rPr>
              <a:t>Many studies highlight intellectual property (IP) issues, including copyright infringement and unauthorized NFT minting.</a:t>
            </a:r>
            <a:endParaRPr lang="en-US" altLang="en-US" b="0" i="0">
              <a:solidFill>
                <a:srgbClr val="0D0D0D"/>
              </a:solidFill>
              <a:latin typeface="Times New Roman" panose="02020603050405020304" pitchFamily="18" charset="0"/>
              <a:ea typeface="-apple-system-body"/>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676" y="180975"/>
            <a:ext cx="11185124" cy="1178561"/>
          </a:xfrm>
        </p:spPr>
        <p:txBody>
          <a:bodyPr>
            <a:normAutofit/>
          </a:bodyPr>
          <a:lstStyle/>
          <a:p>
            <a:pPr algn="ctr"/>
            <a:r>
              <a:rPr lang="en-IN" sz="3800" b="1" dirty="0">
                <a:latin typeface="Times New Roman" panose="02020603050405020304" pitchFamily="18" charset="0"/>
                <a:cs typeface="Times New Roman" panose="02020603050405020304" pitchFamily="18" charset="0"/>
              </a:rPr>
              <a:t>Core Issue </a:t>
            </a:r>
            <a:endParaRPr lang="en-IN" sz="3800"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612560" y="1718724"/>
            <a:ext cx="8194090" cy="45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2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contract loopholes can allow users to avoid paying creator royalties.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2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Creators lose expected revenue from secondary NFT sales.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2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Fixing smart contract errors often requires additional development and auditing costs.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2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Disputes between platform policies and creator rights can lead to legal and administrative expenses.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2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royalty enforcement reduces trust in NFT markets, creating financial and ethical concerns for all stakeholders.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object 4"/>
          <p:cNvPicPr/>
          <p:nvPr/>
        </p:nvPicPr>
        <p:blipFill>
          <a:blip r:embed="rId1" cstate="print"/>
          <a:stretch>
            <a:fillRect/>
          </a:stretch>
        </p:blipFill>
        <p:spPr>
          <a:xfrm>
            <a:off x="92166" y="91757"/>
            <a:ext cx="1088571" cy="1178560"/>
          </a:xfrm>
          <a:prstGeom prst="rect">
            <a:avLst/>
          </a:prstGeom>
        </p:spPr>
      </p:pic>
      <p:pic>
        <p:nvPicPr>
          <p:cNvPr id="6" name="object 5"/>
          <p:cNvPicPr/>
          <p:nvPr/>
        </p:nvPicPr>
        <p:blipFill>
          <a:blip r:embed="rId2" cstate="print"/>
          <a:stretch>
            <a:fillRect/>
          </a:stretch>
        </p:blipFill>
        <p:spPr>
          <a:xfrm>
            <a:off x="10695578" y="91757"/>
            <a:ext cx="1404256" cy="1178560"/>
          </a:xfrm>
          <a:prstGeom prst="rect">
            <a:avLst/>
          </a:prstGeom>
        </p:spPr>
      </p:pic>
      <p:pic>
        <p:nvPicPr>
          <p:cNvPr id="8" name="Picture 7"/>
          <p:cNvPicPr>
            <a:picLocks noChangeAspect="1"/>
          </p:cNvPicPr>
          <p:nvPr/>
        </p:nvPicPr>
        <p:blipFill>
          <a:blip r:embed="rId3"/>
          <a:stretch>
            <a:fillRect/>
          </a:stretch>
        </p:blipFill>
        <p:spPr>
          <a:xfrm>
            <a:off x="8806815" y="2453640"/>
            <a:ext cx="3293745" cy="35426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0" y="365125"/>
            <a:ext cx="9519920" cy="835025"/>
          </a:xfrm>
        </p:spPr>
        <p:txBody>
          <a:bodyPr>
            <a:normAutofit/>
          </a:bodyPr>
          <a:lstStyle/>
          <a:p>
            <a:pPr algn="ctr"/>
            <a:r>
              <a:rPr lang="en-IN" sz="4000" b="1" dirty="0">
                <a:latin typeface="Times New Roman" panose="02020603050405020304" pitchFamily="18" charset="0"/>
                <a:cs typeface="Times New Roman" panose="02020603050405020304" pitchFamily="18" charset="0"/>
              </a:rPr>
              <a:t>Problem Statement </a:t>
            </a:r>
            <a:endParaRPr lang="en-IN" sz="40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927735" y="1678940"/>
            <a:ext cx="10222865" cy="414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algn="just">
              <a:lnSpc>
                <a:spcPct val="20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The main problem is that some NFT marketplaces do not enforce royalties, or smart contracts contain bugs or security vulnerabilities. As a result, creators may not receive the royalty payments they are entitled to.</a:t>
            </a:r>
            <a:endParaRPr lang="en-US" altLang="en-US"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This creates:</a:t>
            </a:r>
            <a:endParaRPr lang="en-US" altLang="en-US"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Financial loss for creators</a:t>
            </a:r>
            <a:endParaRPr lang="en-US" altLang="en-US"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Copyright and ownership disputes</a:t>
            </a:r>
            <a:endParaRPr lang="en-US" altLang="en-US"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Ethical concerns about fairness</a:t>
            </a:r>
            <a:endParaRPr lang="en-US" altLang="en-US"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Reduced trust in NFT platforms</a:t>
            </a:r>
            <a:endParaRPr lang="en-US" altLang="en-US" sz="1800" dirty="0">
              <a:latin typeface="Times New Roman" panose="02020603050405020304" pitchFamily="18" charset="0"/>
              <a:cs typeface="Times New Roman" panose="02020603050405020304" pitchFamily="18" charset="0"/>
            </a:endParaRPr>
          </a:p>
        </p:txBody>
      </p:sp>
      <p:pic>
        <p:nvPicPr>
          <p:cNvPr id="3" name="object 4"/>
          <p:cNvPicPr/>
          <p:nvPr/>
        </p:nvPicPr>
        <p:blipFill>
          <a:blip r:embed="rId1" cstate="print"/>
          <a:stretch>
            <a:fillRect/>
          </a:stretch>
        </p:blipFill>
        <p:spPr>
          <a:xfrm>
            <a:off x="181429" y="183197"/>
            <a:ext cx="1088571" cy="1178560"/>
          </a:xfrm>
          <a:prstGeom prst="rect">
            <a:avLst/>
          </a:prstGeom>
        </p:spPr>
      </p:pic>
      <p:pic>
        <p:nvPicPr>
          <p:cNvPr id="5" name="object 5"/>
          <p:cNvPicPr/>
          <p:nvPr/>
        </p:nvPicPr>
        <p:blipFill>
          <a:blip r:embed="rId2" cstate="print"/>
          <a:stretch>
            <a:fillRect/>
          </a:stretch>
        </p:blipFill>
        <p:spPr>
          <a:xfrm>
            <a:off x="10695578" y="183197"/>
            <a:ext cx="1404256" cy="1178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51857" y="377519"/>
            <a:ext cx="9101183"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Objectives</a:t>
            </a:r>
            <a:endParaRPr lang="en-IN" sz="3600" b="1" dirty="0">
              <a:latin typeface="Times New Roman" panose="02020603050405020304" pitchFamily="18" charset="0"/>
              <a:cs typeface="Times New Roman" panose="02020603050405020304" pitchFamily="18" charset="0"/>
            </a:endParaRPr>
          </a:p>
        </p:txBody>
      </p:sp>
      <p:pic>
        <p:nvPicPr>
          <p:cNvPr id="5" name="object 4"/>
          <p:cNvPicPr/>
          <p:nvPr/>
        </p:nvPicPr>
        <p:blipFill>
          <a:blip r:embed="rId1" cstate="print"/>
          <a:stretch>
            <a:fillRect/>
          </a:stretch>
        </p:blipFill>
        <p:spPr>
          <a:xfrm>
            <a:off x="163286" y="115281"/>
            <a:ext cx="1088571" cy="1178560"/>
          </a:xfrm>
          <a:prstGeom prst="rect">
            <a:avLst/>
          </a:prstGeom>
        </p:spPr>
      </p:pic>
      <p:pic>
        <p:nvPicPr>
          <p:cNvPr id="6" name="object 5"/>
          <p:cNvPicPr/>
          <p:nvPr/>
        </p:nvPicPr>
        <p:blipFill>
          <a:blip r:embed="rId2" cstate="print"/>
          <a:stretch>
            <a:fillRect/>
          </a:stretch>
        </p:blipFill>
        <p:spPr>
          <a:xfrm>
            <a:off x="10624458" y="142182"/>
            <a:ext cx="1404256" cy="1178560"/>
          </a:xfrm>
          <a:prstGeom prst="rect">
            <a:avLst/>
          </a:prstGeom>
        </p:spPr>
      </p:pic>
      <p:sp>
        <p:nvSpPr>
          <p:cNvPr id="2" name="Rectangle 1"/>
          <p:cNvSpPr>
            <a:spLocks noChangeArrowheads="1"/>
          </p:cNvSpPr>
          <p:nvPr/>
        </p:nvSpPr>
        <p:spPr bwMode="auto">
          <a:xfrm>
            <a:off x="664210" y="1294130"/>
            <a:ext cx="8209280"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85750" indent="-285750" algn="just">
              <a:lnSpc>
                <a:spcPct val="150000"/>
              </a:lnSpc>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blockchain and NFTs.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how smart contracts manage royalty payments.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failures in smart contracts.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intellectual property and ethical issues.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suggest ways to improve creator protection.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9384030" y="2904490"/>
            <a:ext cx="2644140" cy="20453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0960" y="365126"/>
            <a:ext cx="9320712" cy="654049"/>
          </a:xfrm>
        </p:spPr>
        <p:txBody>
          <a:bodyPr>
            <a:normAutofit/>
          </a:bodyPr>
          <a:lstStyle/>
          <a:p>
            <a:pPr algn="ctr"/>
            <a:r>
              <a:rPr lang="en-IN" sz="3600" b="1" dirty="0">
                <a:latin typeface="Times New Roman" panose="02020603050405020304" pitchFamily="18" charset="0"/>
                <a:cs typeface="Times New Roman" panose="02020603050405020304" pitchFamily="18" charset="0"/>
              </a:rPr>
              <a:t>Stakeholders </a:t>
            </a:r>
            <a:endParaRPr lang="en-IN" sz="3600" b="1"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1" cstate="print"/>
          <a:stretch>
            <a:fillRect/>
          </a:stretch>
        </p:blipFill>
        <p:spPr>
          <a:xfrm>
            <a:off x="92166" y="91757"/>
            <a:ext cx="1088571" cy="1178560"/>
          </a:xfrm>
          <a:prstGeom prst="rect">
            <a:avLst/>
          </a:prstGeom>
        </p:spPr>
      </p:pic>
      <p:pic>
        <p:nvPicPr>
          <p:cNvPr id="5" name="object 5"/>
          <p:cNvPicPr/>
          <p:nvPr/>
        </p:nvPicPr>
        <p:blipFill>
          <a:blip r:embed="rId2" cstate="print"/>
          <a:stretch>
            <a:fillRect/>
          </a:stretch>
        </p:blipFill>
        <p:spPr>
          <a:xfrm>
            <a:off x="10651672" y="50482"/>
            <a:ext cx="1404256" cy="1178560"/>
          </a:xfrm>
          <a:prstGeom prst="rect">
            <a:avLst/>
          </a:prstGeom>
        </p:spPr>
      </p:pic>
      <p:graphicFrame>
        <p:nvGraphicFramePr>
          <p:cNvPr id="10" name="Content Placeholder 9"/>
          <p:cNvGraphicFramePr>
            <a:graphicFrameLocks noGrp="1"/>
          </p:cNvGraphicFramePr>
          <p:nvPr>
            <p:ph idx="1"/>
          </p:nvPr>
        </p:nvGraphicFramePr>
        <p:xfrm>
          <a:off x="838200" y="1825625"/>
          <a:ext cx="802957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stretch>
            <a:fillRect/>
          </a:stretch>
        </p:blipFill>
        <p:spPr>
          <a:xfrm>
            <a:off x="6402705" y="1743710"/>
            <a:ext cx="4603115" cy="3783330"/>
          </a:xfrm>
          <a:prstGeom prst="rect">
            <a:avLst/>
          </a:prstGeom>
        </p:spPr>
      </p:pic>
      <p:sp>
        <p:nvSpPr>
          <p:cNvPr id="30" name="Text Box 29"/>
          <p:cNvSpPr txBox="1"/>
          <p:nvPr>
            <p:custDataLst>
              <p:tags r:id="rId9"/>
            </p:custDataLst>
          </p:nvPr>
        </p:nvSpPr>
        <p:spPr>
          <a:xfrm>
            <a:off x="1976755" y="3557588"/>
            <a:ext cx="3034030" cy="266700"/>
          </a:xfrm>
          <a:prstGeom prst="rect">
            <a:avLst/>
          </a:prstGeom>
          <a:noFill/>
        </p:spPr>
        <p:txBody>
          <a:bodyPr wrap="square" lIns="17780" tIns="0" rIns="17780" bIns="0" rtlCol="0" anchor="t">
            <a:noAutofit/>
          </a:bodyPr>
          <a:p>
            <a:pPr algn="l">
              <a:lnSpc>
                <a:spcPct val="120000"/>
              </a:lnSpc>
            </a:pPr>
            <a:r>
              <a:rPr lang="en-IN" sz="1400">
                <a:solidFill>
                  <a:srgbClr val="FFFFFF"/>
                </a:solidFill>
                <a:latin typeface="Aptos" charset="0"/>
                <a:ea typeface="等线" charset="0"/>
                <a:cs typeface="Microsoft YaHei" panose="020B0503020204020204" charset="-122"/>
              </a:rPr>
              <a:t>Regulators and IP Authorities</a:t>
            </a:r>
            <a:endParaRPr lang="en-IN" sz="1400">
              <a:solidFill>
                <a:srgbClr val="FFFFFF"/>
              </a:solidFill>
              <a:latin typeface="Aptos" charset="0"/>
              <a:ea typeface="等线" charset="0"/>
              <a:cs typeface="Microsoft YaHei" panose="020B0503020204020204" charset="-122"/>
            </a:endParaRPr>
          </a:p>
        </p:txBody>
      </p:sp>
      <p:sp>
        <p:nvSpPr>
          <p:cNvPr id="42" name="Text Box 41"/>
          <p:cNvSpPr txBox="1"/>
          <p:nvPr/>
        </p:nvSpPr>
        <p:spPr>
          <a:xfrm>
            <a:off x="1390015" y="2105660"/>
            <a:ext cx="5133340" cy="2908300"/>
          </a:xfrm>
          <a:prstGeom prst="rect">
            <a:avLst/>
          </a:prstGeom>
          <a:noFill/>
        </p:spPr>
        <p:txBody>
          <a:bodyPr wrap="square" rtlCol="0" anchor="t">
            <a:noAutofit/>
          </a:bodyPr>
          <a:p>
            <a:pPr marL="285750" indent="-285750">
              <a:buFont typeface="Wingdings" panose="05000000000000000000" charset="0"/>
              <a:buChar char="Ø"/>
            </a:pPr>
            <a:r>
              <a:rPr>
                <a:sym typeface="+mn-ea"/>
              </a:rPr>
              <a:t>NFT Creators</a:t>
            </a:r>
            <a:endParaRPr>
              <a:sym typeface="+mn-ea"/>
            </a:endParaRPr>
          </a:p>
          <a:p>
            <a:pPr marL="285750" indent="-285750">
              <a:buFont typeface="Wingdings" panose="05000000000000000000" charset="0"/>
              <a:buChar char="Ø"/>
            </a:pPr>
            <a:r>
              <a:rPr>
                <a:sym typeface="+mn-ea"/>
              </a:rPr>
              <a:t>Collectors / Buyers</a:t>
            </a:r>
            <a:endParaRPr>
              <a:sym typeface="+mn-ea"/>
            </a:endParaRPr>
          </a:p>
          <a:p>
            <a:pPr marL="285750" indent="-285750">
              <a:buFont typeface="Wingdings" panose="05000000000000000000" charset="0"/>
              <a:buChar char="Ø"/>
            </a:pPr>
            <a:r>
              <a:rPr>
                <a:sym typeface="+mn-ea"/>
              </a:rPr>
              <a:t>Marketplace Operators</a:t>
            </a:r>
            <a:endParaRPr>
              <a:sym typeface="+mn-ea"/>
            </a:endParaRPr>
          </a:p>
          <a:p>
            <a:pPr marL="285750" indent="-285750">
              <a:buFont typeface="Wingdings" panose="05000000000000000000" charset="0"/>
              <a:buChar char="Ø"/>
            </a:pPr>
            <a:r>
              <a:rPr>
                <a:sym typeface="+mn-ea"/>
              </a:rPr>
              <a:t>Blockchain Developers</a:t>
            </a:r>
            <a:endParaRPr>
              <a:sym typeface="+mn-ea"/>
            </a:endParaRPr>
          </a:p>
          <a:p>
            <a:pPr marL="285750" indent="-285750">
              <a:buFont typeface="Wingdings" panose="05000000000000000000" charset="0"/>
              <a:buChar char="Ø"/>
            </a:pPr>
            <a:r>
              <a:rPr>
                <a:sym typeface="+mn-ea"/>
              </a:rPr>
              <a:t>Regulators and IP Authorities</a:t>
            </a:r>
            <a:endParaRPr lang="en-U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4"/>
          <p:cNvPicPr/>
          <p:nvPr/>
        </p:nvPicPr>
        <p:blipFill>
          <a:blip r:embed="rId1" cstate="print"/>
          <a:stretch>
            <a:fillRect/>
          </a:stretch>
        </p:blipFill>
        <p:spPr>
          <a:xfrm>
            <a:off x="163286" y="115281"/>
            <a:ext cx="1088571" cy="1178560"/>
          </a:xfrm>
          <a:prstGeom prst="rect">
            <a:avLst/>
          </a:prstGeom>
        </p:spPr>
      </p:pic>
      <p:pic>
        <p:nvPicPr>
          <p:cNvPr id="3" name="object 5"/>
          <p:cNvPicPr/>
          <p:nvPr/>
        </p:nvPicPr>
        <p:blipFill>
          <a:blip r:embed="rId2" cstate="print"/>
          <a:stretch>
            <a:fillRect/>
          </a:stretch>
        </p:blipFill>
        <p:spPr>
          <a:xfrm>
            <a:off x="10624458" y="142182"/>
            <a:ext cx="1404256" cy="1178560"/>
          </a:xfrm>
          <a:prstGeom prst="rect">
            <a:avLst/>
          </a:prstGeom>
        </p:spPr>
      </p:pic>
      <p:sp>
        <p:nvSpPr>
          <p:cNvPr id="5" name="TextBox 4"/>
          <p:cNvSpPr txBox="1"/>
          <p:nvPr/>
        </p:nvSpPr>
        <p:spPr>
          <a:xfrm>
            <a:off x="1851976" y="377519"/>
            <a:ext cx="8501064" cy="706755"/>
          </a:xfrm>
          <a:prstGeom prst="rect">
            <a:avLst/>
          </a:prstGeom>
          <a:noFill/>
        </p:spPr>
        <p:txBody>
          <a:bodyPr wrap="square">
            <a:spAutoFit/>
          </a:bodyPr>
          <a:lstStyle/>
          <a:p>
            <a:pPr algn="ctr"/>
            <a:r>
              <a:rPr sz="4000" b="1">
                <a:latin typeface="Times New Roman" panose="02020603050405020304" pitchFamily="18" charset="0"/>
                <a:cs typeface="Times New Roman" panose="02020603050405020304" pitchFamily="18" charset="0"/>
                <a:sym typeface="+mn-ea"/>
              </a:rPr>
              <a:t>Creator</a:t>
            </a:r>
            <a:r>
              <a:rPr lang="en-US" sz="4000" b="1" dirty="0">
                <a:latin typeface="Times New Roman" panose="02020603050405020304" pitchFamily="18" charset="0"/>
                <a:cs typeface="Times New Roman" panose="02020603050405020304" pitchFamily="18" charset="0"/>
              </a:rPr>
              <a:t> Concerns</a:t>
            </a:r>
            <a:endParaRPr lang="en-IN" sz="40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61975" y="1657350"/>
            <a:ext cx="10267950" cy="4661535"/>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Loss of royalty income due to non-enforcement of smart contract rules.</a:t>
            </a: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Weak protection of intellectual property rights in digital NFT assets.</a:t>
            </a: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Reduced trust in NFT marketplaces and blockchain-based systems.</a:t>
            </a: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Difficulty in enforcing creator rights across multiple platforms.</a:t>
            </a: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Uncertainty in long-term earnings and sustainability of digital content ownership.</a:t>
            </a: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365125"/>
            <a:ext cx="9563101" cy="682625"/>
          </a:xfrm>
        </p:spPr>
        <p:txBody>
          <a:bodyPr>
            <a:normAutofit/>
          </a:bodyPr>
          <a:lstStyle/>
          <a:p>
            <a:pPr algn="ctr"/>
            <a:r>
              <a:rPr lang="en-IN" sz="3600" b="1" dirty="0">
                <a:latin typeface="Times New Roman" panose="02020603050405020304" pitchFamily="18" charset="0"/>
                <a:cs typeface="Times New Roman" panose="02020603050405020304" pitchFamily="18" charset="0"/>
              </a:rPr>
              <a:t>Management View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8175" y="1895475"/>
            <a:ext cx="8677275" cy="4281805"/>
          </a:xfrm>
        </p:spPr>
        <p:txBody>
          <a:bodyPr>
            <a:normAutofit fontScale="90000"/>
          </a:bodyPr>
          <a:lstStyle/>
          <a:p>
            <a:pPr>
              <a:lnSpc>
                <a:spcPct val="150000"/>
              </a:lnSpc>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NFT marketplaces focus on remaining competitive and attracting more users to their platforms.</a:t>
            </a:r>
            <a:endParaRPr lang="en-US" altLang="en-US" sz="20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There is pressure to reduce transaction costs to encourage higher trading activity.</a:t>
            </a: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Platforms must balance creator royalty rights with market flexibility and user demand.</a:t>
            </a: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Different marketplaces adopt varying policies for royalty enforcement and compliance.</a:t>
            </a: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Managing regulatory, technical, and governance challenges is essential for sustainable platform growth.</a:t>
            </a:r>
            <a:endParaRPr lang="en-US" altLang="en-US" sz="2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p:txBody>
      </p:sp>
      <p:pic>
        <p:nvPicPr>
          <p:cNvPr id="5" name="object 4"/>
          <p:cNvPicPr/>
          <p:nvPr/>
        </p:nvPicPr>
        <p:blipFill>
          <a:blip r:embed="rId1" cstate="print"/>
          <a:stretch>
            <a:fillRect/>
          </a:stretch>
        </p:blipFill>
        <p:spPr>
          <a:xfrm>
            <a:off x="0" y="91757"/>
            <a:ext cx="1088571" cy="1178560"/>
          </a:xfrm>
          <a:prstGeom prst="rect">
            <a:avLst/>
          </a:prstGeom>
        </p:spPr>
      </p:pic>
      <p:pic>
        <p:nvPicPr>
          <p:cNvPr id="7" name="object 5"/>
          <p:cNvPicPr/>
          <p:nvPr/>
        </p:nvPicPr>
        <p:blipFill>
          <a:blip r:embed="rId2" cstate="print"/>
          <a:stretch>
            <a:fillRect/>
          </a:stretch>
        </p:blipFill>
        <p:spPr>
          <a:xfrm>
            <a:off x="10651672" y="91757"/>
            <a:ext cx="1404256" cy="1178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5"/>
          <p:cNvPicPr/>
          <p:nvPr/>
        </p:nvPicPr>
        <p:blipFill>
          <a:blip r:embed="rId1" cstate="print"/>
          <a:stretch>
            <a:fillRect/>
          </a:stretch>
        </p:blipFill>
        <p:spPr>
          <a:xfrm>
            <a:off x="10624458" y="142182"/>
            <a:ext cx="1404256" cy="1178560"/>
          </a:xfrm>
          <a:prstGeom prst="rect">
            <a:avLst/>
          </a:prstGeom>
        </p:spPr>
      </p:pic>
      <p:pic>
        <p:nvPicPr>
          <p:cNvPr id="3" name="object 4"/>
          <p:cNvPicPr/>
          <p:nvPr/>
        </p:nvPicPr>
        <p:blipFill>
          <a:blip r:embed="rId2" cstate="print"/>
          <a:stretch>
            <a:fillRect/>
          </a:stretch>
        </p:blipFill>
        <p:spPr>
          <a:xfrm>
            <a:off x="163286" y="115281"/>
            <a:ext cx="1088571" cy="1178560"/>
          </a:xfrm>
          <a:prstGeom prst="rect">
            <a:avLst/>
          </a:prstGeom>
        </p:spPr>
      </p:pic>
      <p:sp>
        <p:nvSpPr>
          <p:cNvPr id="5" name="TextBox 4"/>
          <p:cNvSpPr txBox="1"/>
          <p:nvPr/>
        </p:nvSpPr>
        <p:spPr>
          <a:xfrm>
            <a:off x="1475014" y="377519"/>
            <a:ext cx="9241972"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Legal Framework</a:t>
            </a:r>
            <a:endParaRPr lang="en-IN" sz="36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843100" y="1442719"/>
            <a:ext cx="10739300" cy="369332"/>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8" name="Picture 7" descr="vars"/>
          <p:cNvPicPr>
            <a:picLocks noChangeAspect="1"/>
          </p:cNvPicPr>
          <p:nvPr/>
        </p:nvPicPr>
        <p:blipFill>
          <a:blip r:embed="rId3"/>
          <a:stretch>
            <a:fillRect/>
          </a:stretch>
        </p:blipFill>
        <p:spPr>
          <a:xfrm>
            <a:off x="8612505" y="2133600"/>
            <a:ext cx="3119755" cy="2266950"/>
          </a:xfrm>
          <a:prstGeom prst="rect">
            <a:avLst/>
          </a:prstGeom>
        </p:spPr>
      </p:pic>
      <p:sp>
        <p:nvSpPr>
          <p:cNvPr id="9" name="Text Box 8"/>
          <p:cNvSpPr txBox="1"/>
          <p:nvPr/>
        </p:nvSpPr>
        <p:spPr>
          <a:xfrm>
            <a:off x="843280" y="1934845"/>
            <a:ext cx="7182485" cy="3971925"/>
          </a:xfrm>
          <a:prstGeom prst="rect">
            <a:avLst/>
          </a:prstGeom>
        </p:spPr>
        <p:txBody>
          <a:bodyPr wrap="square">
            <a:noAutofit/>
          </a:bodyPr>
          <a:p>
            <a:pPr marL="285750" indent="-285750" algn="just">
              <a:lnSpc>
                <a:spcPts val="1560"/>
              </a:lnSpc>
              <a:spcBef>
                <a:spcPct val="0"/>
              </a:spcBef>
              <a:spcAft>
                <a:spcPct val="0"/>
              </a:spcAft>
              <a:buFont typeface="Wingdings" panose="05000000000000000000" charset="0"/>
              <a:buChar char="Ø"/>
            </a:pPr>
            <a:r>
              <a:rPr b="0" i="0">
                <a:solidFill>
                  <a:srgbClr val="0D0D0D"/>
                </a:solidFill>
                <a:latin typeface="Times New Roman" panose="02020603050405020304" pitchFamily="18" charset="0"/>
                <a:ea typeface="-apple-system-body"/>
                <a:cs typeface="Times New Roman" panose="02020603050405020304" pitchFamily="18" charset="0"/>
              </a:rPr>
              <a:t>Copyright laws protect digital content and apply to blockchain assets like NFTs.</a:t>
            </a: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r>
              <a:rPr b="0" i="0">
                <a:solidFill>
                  <a:srgbClr val="0D0D0D"/>
                </a:solidFill>
                <a:latin typeface="Times New Roman" panose="02020603050405020304" pitchFamily="18" charset="0"/>
                <a:ea typeface="-apple-system-body"/>
                <a:cs typeface="Times New Roman" panose="02020603050405020304" pitchFamily="18" charset="0"/>
              </a:rPr>
              <a:t>Smart contracts must follow governance rules and be properly audited.</a:t>
            </a: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r>
              <a:rPr b="0" i="0">
                <a:solidFill>
                  <a:srgbClr val="0D0D0D"/>
                </a:solidFill>
                <a:latin typeface="Times New Roman" panose="02020603050405020304" pitchFamily="18" charset="0"/>
                <a:ea typeface="-apple-system-body"/>
                <a:cs typeface="Times New Roman" panose="02020603050405020304" pitchFamily="18" charset="0"/>
              </a:rPr>
              <a:t>Consumer protection laws prevent fraud and scams in digital assets</a:t>
            </a:r>
            <a:r>
              <a:rPr lang="en-IN" b="0" i="0">
                <a:solidFill>
                  <a:srgbClr val="0D0D0D"/>
                </a:solidFill>
                <a:latin typeface="Times New Roman" panose="02020603050405020304" pitchFamily="18" charset="0"/>
                <a:ea typeface="-apple-system-body"/>
                <a:cs typeface="Times New Roman" panose="02020603050405020304" pitchFamily="18" charset="0"/>
              </a:rPr>
              <a:t>.</a:t>
            </a: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r>
              <a:rPr b="0" i="0">
                <a:solidFill>
                  <a:srgbClr val="0D0D0D"/>
                </a:solidFill>
                <a:latin typeface="Times New Roman" panose="02020603050405020304" pitchFamily="18" charset="0"/>
                <a:ea typeface="-apple-system-body"/>
                <a:cs typeface="Times New Roman" panose="02020603050405020304" pitchFamily="18" charset="0"/>
              </a:rPr>
              <a:t>Governments regulate cryptocurrencies using legal and financial rules like KYC and AML.</a:t>
            </a: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endParaRPr b="0" i="0">
              <a:solidFill>
                <a:srgbClr val="0D0D0D"/>
              </a:solidFill>
              <a:latin typeface="Times New Roman" panose="02020603050405020304" pitchFamily="18" charset="0"/>
              <a:ea typeface="-apple-system-body"/>
              <a:cs typeface="Times New Roman" panose="02020603050405020304" pitchFamily="18" charset="0"/>
            </a:endParaRPr>
          </a:p>
          <a:p>
            <a:pPr marL="285750" indent="-285750" algn="just">
              <a:lnSpc>
                <a:spcPts val="1560"/>
              </a:lnSpc>
              <a:spcBef>
                <a:spcPct val="0"/>
              </a:spcBef>
              <a:spcAft>
                <a:spcPct val="0"/>
              </a:spcAft>
              <a:buFont typeface="Wingdings" panose="05000000000000000000" charset="0"/>
              <a:buChar char="Ø"/>
            </a:pPr>
            <a:r>
              <a:rPr b="0" i="0">
                <a:solidFill>
                  <a:srgbClr val="0D0D0D"/>
                </a:solidFill>
                <a:latin typeface="Times New Roman" panose="02020603050405020304" pitchFamily="18" charset="0"/>
                <a:ea typeface="-apple-system-body"/>
                <a:cs typeface="Times New Roman" panose="02020603050405020304" pitchFamily="18" charset="0"/>
              </a:rPr>
              <a:t>Disputes in blockchain are solved through courts, arbitration, or digital governance systems.</a:t>
            </a:r>
            <a:endParaRPr b="0" i="0">
              <a:solidFill>
                <a:srgbClr val="0D0D0D"/>
              </a:solidFill>
              <a:latin typeface="Times New Roman" panose="02020603050405020304" pitchFamily="18" charset="0"/>
              <a:ea typeface="-apple-system-body"/>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3500" y="365126"/>
            <a:ext cx="9563100" cy="673100"/>
          </a:xfrm>
        </p:spPr>
        <p:txBody>
          <a:bodyPr>
            <a:normAutofit/>
          </a:bodyPr>
          <a:lstStyle/>
          <a:p>
            <a:pPr algn="ctr"/>
            <a:r>
              <a:rPr lang="en-IN" sz="3600" b="1" dirty="0">
                <a:latin typeface="Times New Roman" panose="02020603050405020304" pitchFamily="18" charset="0"/>
                <a:cs typeface="Times New Roman" panose="02020603050405020304" pitchFamily="18" charset="0"/>
              </a:rPr>
              <a:t>Ethical Issues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5825" y="1825625"/>
            <a:ext cx="8172450" cy="4351655"/>
          </a:xfrm>
        </p:spPr>
        <p:txBody>
          <a:bodyPr>
            <a:normAutofit/>
          </a:bodyPr>
          <a:lstStyle/>
          <a:p>
            <a:pPr>
              <a:lnSpc>
                <a:spcPct val="15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Ensure transparent royalty enforcement for digital creators.</a:t>
            </a:r>
            <a:endParaRPr lang="en-US" alt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Provide audit mechanisms to check and verify smart contracts.</a:t>
            </a:r>
            <a:endParaRPr lang="en-US" alt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Establish governance policies that support and protect creators.</a:t>
            </a:r>
            <a:endParaRPr lang="en-US" alt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Promote fairness in all blockchain transactions and systems.</a:t>
            </a:r>
            <a:endParaRPr lang="en-US" alt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Maintain accountability and build trust among all stakeholders.</a:t>
            </a:r>
            <a:endParaRPr lang="en-US" alt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p:txBody>
      </p:sp>
      <p:pic>
        <p:nvPicPr>
          <p:cNvPr id="5" name="object 4"/>
          <p:cNvPicPr/>
          <p:nvPr/>
        </p:nvPicPr>
        <p:blipFill>
          <a:blip r:embed="rId1" cstate="print"/>
          <a:stretch>
            <a:fillRect/>
          </a:stretch>
        </p:blipFill>
        <p:spPr>
          <a:xfrm>
            <a:off x="163286" y="115281"/>
            <a:ext cx="1088571" cy="1178560"/>
          </a:xfrm>
          <a:prstGeom prst="rect">
            <a:avLst/>
          </a:prstGeom>
        </p:spPr>
      </p:pic>
      <p:pic>
        <p:nvPicPr>
          <p:cNvPr id="7" name="object 5"/>
          <p:cNvPicPr/>
          <p:nvPr/>
        </p:nvPicPr>
        <p:blipFill>
          <a:blip r:embed="rId2" cstate="print"/>
          <a:stretch>
            <a:fillRect/>
          </a:stretch>
        </p:blipFill>
        <p:spPr>
          <a:xfrm>
            <a:off x="10548258" y="230188"/>
            <a:ext cx="1404256" cy="1178560"/>
          </a:xfrm>
          <a:prstGeom prst="rect">
            <a:avLst/>
          </a:prstGeom>
        </p:spPr>
      </p:pic>
      <p:pic>
        <p:nvPicPr>
          <p:cNvPr id="4" name="Picture 3" descr="va"/>
          <p:cNvPicPr>
            <a:picLocks noChangeAspect="1"/>
          </p:cNvPicPr>
          <p:nvPr/>
        </p:nvPicPr>
        <p:blipFill>
          <a:blip r:embed="rId3"/>
          <a:stretch>
            <a:fillRect/>
          </a:stretch>
        </p:blipFill>
        <p:spPr>
          <a:xfrm>
            <a:off x="7918450" y="2238375"/>
            <a:ext cx="4034155" cy="25266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500" y="249416"/>
            <a:ext cx="8067675" cy="707886"/>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pic>
        <p:nvPicPr>
          <p:cNvPr id="6" name="object 4"/>
          <p:cNvPicPr/>
          <p:nvPr/>
        </p:nvPicPr>
        <p:blipFill>
          <a:blip r:embed="rId1" cstate="print"/>
          <a:stretch>
            <a:fillRect/>
          </a:stretch>
        </p:blipFill>
        <p:spPr>
          <a:xfrm>
            <a:off x="163286" y="115281"/>
            <a:ext cx="1088571" cy="1178560"/>
          </a:xfrm>
          <a:prstGeom prst="rect">
            <a:avLst/>
          </a:prstGeom>
        </p:spPr>
      </p:pic>
      <p:pic>
        <p:nvPicPr>
          <p:cNvPr id="7" name="object 5"/>
          <p:cNvPicPr/>
          <p:nvPr/>
        </p:nvPicPr>
        <p:blipFill>
          <a:blip r:embed="rId2" cstate="print"/>
          <a:stretch>
            <a:fillRect/>
          </a:stretch>
        </p:blipFill>
        <p:spPr>
          <a:xfrm>
            <a:off x="10624458" y="142182"/>
            <a:ext cx="1404256" cy="1178560"/>
          </a:xfrm>
          <a:prstGeom prst="rect">
            <a:avLst/>
          </a:prstGeom>
        </p:spPr>
      </p:pic>
      <p:sp>
        <p:nvSpPr>
          <p:cNvPr id="3" name="Rectangle 1"/>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vars con"/>
          <p:cNvPicPr>
            <a:picLocks noChangeAspect="1"/>
          </p:cNvPicPr>
          <p:nvPr/>
        </p:nvPicPr>
        <p:blipFill>
          <a:blip r:embed="rId3"/>
          <a:stretch>
            <a:fillRect/>
          </a:stretch>
        </p:blipFill>
        <p:spPr>
          <a:xfrm>
            <a:off x="8703945" y="2307590"/>
            <a:ext cx="3325495" cy="2644140"/>
          </a:xfrm>
          <a:prstGeom prst="rect">
            <a:avLst/>
          </a:prstGeom>
        </p:spPr>
      </p:pic>
      <p:sp>
        <p:nvSpPr>
          <p:cNvPr id="9" name="Text Box 8"/>
          <p:cNvSpPr txBox="1"/>
          <p:nvPr/>
        </p:nvSpPr>
        <p:spPr>
          <a:xfrm>
            <a:off x="889000" y="1755775"/>
            <a:ext cx="7814945" cy="3081020"/>
          </a:xfrm>
          <a:prstGeom prst="rect">
            <a:avLst/>
          </a:prstGeom>
        </p:spPr>
        <p:txBody>
          <a:bodyPr wrap="square">
            <a:noAutofit/>
          </a:bodyPr>
          <a:p>
            <a:pPr marL="285750" indent="-285750">
              <a:lnSpc>
                <a:spcPts val="1560"/>
              </a:lnSpc>
              <a:spcBef>
                <a:spcPct val="0"/>
              </a:spcBef>
              <a:spcAft>
                <a:spcPct val="0"/>
              </a:spcAft>
              <a:buFont typeface="Wingdings" panose="05000000000000000000" charset="0"/>
              <a:buChar char="Ø"/>
            </a:pPr>
            <a:r>
              <a:rPr lang="en-US" altLang="en-US" b="0" i="0">
                <a:solidFill>
                  <a:srgbClr val="0D0D0D"/>
                </a:solidFill>
                <a:latin typeface="Times New Roman" panose="02020603050405020304" pitchFamily="18" charset="0"/>
                <a:ea typeface="-apple-system-body"/>
                <a:cs typeface="Times New Roman" panose="02020603050405020304" pitchFamily="18" charset="0"/>
              </a:rPr>
              <a:t>blockchain and NFTs have changed digital ownership, but smart contract failures can create ethical and intellectual property challenges. Improving smart contract security and royalty enforcement will help protect creators and build trust in the NFT ecosystem.</a:t>
            </a:r>
            <a:endParaRPr lang="en-US" altLang="en-US" b="0" i="0">
              <a:solidFill>
                <a:srgbClr val="0D0D0D"/>
              </a:solidFill>
              <a:latin typeface="Times New Roman" panose="02020603050405020304" pitchFamily="18" charset="0"/>
              <a:ea typeface="-apple-system-body"/>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0" y="3244334"/>
            <a:ext cx="5232400" cy="707886"/>
          </a:xfrm>
          <a:prstGeom prst="rect">
            <a:avLst/>
          </a:prstGeom>
          <a:noFill/>
        </p:spPr>
        <p:txBody>
          <a:bodyPr wrap="square">
            <a:spAutoFit/>
          </a:bodyPr>
          <a:lstStyle/>
          <a:p>
            <a:pPr algn="ctr"/>
            <a:r>
              <a:rPr lang="en-US" sz="4000" dirty="0">
                <a:latin typeface="Perpetua Titling MT" panose="02020502060505020804" pitchFamily="18" charset="0"/>
                <a:cs typeface="Times New Roman" panose="02020603050405020304" pitchFamily="18" charset="0"/>
              </a:rPr>
              <a:t>THANK YOU</a:t>
            </a:r>
            <a:endParaRPr lang="en-IN" sz="4000" dirty="0">
              <a:latin typeface="Perpetua Titling MT" panose="020205020605050208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BEAUTIFY_FLAG" val="#wm#"/>
  <p:tag name="KSO_WM_CARDGROUP_FEATURE" val="1*4*12*0*1"/>
  <p:tag name="KSO_WM_CARDGROUP_ID" val="207d73fd118e4decbdca96f20b13e60f"/>
  <p:tag name="KSO_WM_CARDGROUP_REVERSE_POSITION" val="0"/>
  <p:tag name="KSO_WM_CARDGROUP_STYLE_INFO" val="C1_sc_p1*standard*0"/>
  <p:tag name="KSO_WM_FIGMA_FLAG" val="#fgm#"/>
  <p:tag name="KSO_WM_SLIDE_FIGMA_DIAGRAM" val="1"/>
  <p:tag name="KSO_WM_UNIT_INDEX" val="1_1_1"/>
  <p:tag name="KSO_WM_UNIT_PRESET_TEXT" val="Please Enter Your Text Here."/>
  <p:tag name="KSO_WM_UNIT_TYPE" val="l_h_f"/>
  <p:tag name="KSO_WM_CARDGROUP_LAYOUT_DATA" val="{&quot;cardRct&quot;:[1473,3248,6778,5129],&quot;lytRct&quot;:[1473,3248,6778,5129],&quot;rct&quot;:[1473,3248,6778,5129],&quot;spRct&quot;:[1640,2354,6417,277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5180</Words>
  <Application>WPS Presentation</Application>
  <PresentationFormat>Widescreen</PresentationFormat>
  <Paragraphs>139</Paragraphs>
  <Slides>14</Slides>
  <Notes>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SimSun</vt:lpstr>
      <vt:lpstr>Wingdings</vt:lpstr>
      <vt:lpstr>Times New Roman</vt:lpstr>
      <vt:lpstr>Wingdings</vt:lpstr>
      <vt:lpstr>-apple-system-body</vt:lpstr>
      <vt:lpstr>Segoe Print</vt:lpstr>
      <vt:lpstr>Aptos</vt:lpstr>
      <vt:lpstr>Segoe UI</vt:lpstr>
      <vt:lpstr>等线</vt:lpstr>
      <vt:lpstr>Microsoft YaHei</vt:lpstr>
      <vt:lpstr>Perpetua Titling MT</vt:lpstr>
      <vt:lpstr>PMingLiU-ExtB</vt:lpstr>
      <vt:lpstr>Aptos Display</vt:lpstr>
      <vt:lpstr>Segoe UI Variable Display</vt:lpstr>
      <vt:lpstr>Arial Unicode MS</vt:lpstr>
      <vt:lpstr>Office Theme</vt:lpstr>
      <vt:lpstr>Blockchain IP Ethics: Smart Contract Failures in NFT Royalties</vt:lpstr>
      <vt:lpstr>PowerPoint 演示文稿</vt:lpstr>
      <vt:lpstr>PowerPoint 演示文稿</vt:lpstr>
      <vt:lpstr>PowerPoint 演示文稿</vt:lpstr>
      <vt:lpstr>Core Issue </vt:lpstr>
      <vt:lpstr>Problem Statement </vt:lpstr>
      <vt:lpstr>PowerPoint 演示文稿</vt:lpstr>
      <vt:lpstr>Stakeholders </vt:lpstr>
      <vt:lpstr>PowerPoint 演示文稿</vt:lpstr>
      <vt:lpstr>Management View </vt:lpstr>
      <vt:lpstr>PowerPoint 演示文稿</vt:lpstr>
      <vt:lpstr>Ethical Issues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Meenakshi Reddy</dc:creator>
  <cp:lastModifiedBy>WPS_1782108020</cp:lastModifiedBy>
  <cp:revision>28</cp:revision>
  <dcterms:created xsi:type="dcterms:W3CDTF">2025-12-17T08:45:00Z</dcterms:created>
  <dcterms:modified xsi:type="dcterms:W3CDTF">2026-06-27T03:48:45Z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9A90A2F4B1BF455EACC9B3AEA4EDE198_13</vt:lpwstr>
  </property>
</Properties>
</file>